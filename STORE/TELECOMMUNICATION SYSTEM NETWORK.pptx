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9" r:id="rId10"/>
    <p:sldId id="265" r:id="rId11"/>
    <p:sldId id="270" r:id="rId12"/>
    <p:sldId id="267" r:id="rId13"/>
    <p:sldId id="268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  <a:srgbClr val="FFFFFF"/>
    <a:srgbClr val="4D1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18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2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afat Siraj" userId="cb30dc6a5c258742" providerId="LiveId" clId="{83492BA4-4520-4220-9134-5E6B6260C22A}"/>
    <pc:docChg chg="modSld">
      <pc:chgData name="Arafat Siraj" userId="cb30dc6a5c258742" providerId="LiveId" clId="{83492BA4-4520-4220-9134-5E6B6260C22A}" dt="2025-10-20T07:34:34.955" v="1" actId="14734"/>
      <pc:docMkLst>
        <pc:docMk/>
      </pc:docMkLst>
      <pc:sldChg chg="modSp mod">
        <pc:chgData name="Arafat Siraj" userId="cb30dc6a5c258742" providerId="LiveId" clId="{83492BA4-4520-4220-9134-5E6B6260C22A}" dt="2025-10-20T07:34:34.955" v="1" actId="14734"/>
        <pc:sldMkLst>
          <pc:docMk/>
          <pc:sldMk cId="3992387067" sldId="264"/>
        </pc:sldMkLst>
        <pc:graphicFrameChg chg="mod modGraphic">
          <ac:chgData name="Arafat Siraj" userId="cb30dc6a5c258742" providerId="LiveId" clId="{83492BA4-4520-4220-9134-5E6B6260C22A}" dt="2025-10-20T07:34:34.955" v="1" actId="14734"/>
          <ac:graphicFrameMkLst>
            <pc:docMk/>
            <pc:sldMk cId="3992387067" sldId="264"/>
            <ac:graphicFrameMk id="5" creationId="{97F04F46-B035-437C-BA6F-6D295026C571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3BA85-4FA1-4E4D-8B29-B5C912B308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TELECOMMUNICATION SYSTEM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A1645C-1B91-4E45-BA1C-BAF7A53B6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878" y="2703993"/>
            <a:ext cx="10993546" cy="590321"/>
          </a:xfrm>
        </p:spPr>
        <p:txBody>
          <a:bodyPr>
            <a:normAutofit/>
          </a:bodyPr>
          <a:lstStyle/>
          <a:p>
            <a:r>
              <a:rPr lang="en-US" dirty="0"/>
              <a:t>Presented BY: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586CDC-2480-4F4D-B053-5604D2DA1FBE}"/>
              </a:ext>
            </a:extLst>
          </p:cNvPr>
          <p:cNvSpPr txBox="1"/>
          <p:nvPr/>
        </p:nvSpPr>
        <p:spPr>
          <a:xfrm>
            <a:off x="649705" y="3232484"/>
            <a:ext cx="277929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MD ARAFAT SIRAJ </a:t>
            </a:r>
          </a:p>
          <a:p>
            <a:r>
              <a:rPr lang="en-US" dirty="0">
                <a:solidFill>
                  <a:schemeClr val="bg1"/>
                </a:solidFill>
              </a:rPr>
              <a:t>ID: 0222220005101030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PRIYAM SHARMA </a:t>
            </a:r>
          </a:p>
          <a:p>
            <a:r>
              <a:rPr lang="en-US" dirty="0">
                <a:solidFill>
                  <a:schemeClr val="bg1"/>
                </a:solidFill>
              </a:rPr>
              <a:t>ID: 0222220005101018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ABIR AHAMED OMI </a:t>
            </a:r>
          </a:p>
          <a:p>
            <a:r>
              <a:rPr lang="en-US" dirty="0">
                <a:solidFill>
                  <a:schemeClr val="bg1"/>
                </a:solidFill>
              </a:rPr>
              <a:t>ID: 0222220005101021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954E9B-AAC8-4F6E-9C23-8C47FC4AC4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6834" y="648514"/>
            <a:ext cx="1323975" cy="111760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8B5C60-6CE6-46F3-8957-CB4F016E40AA}"/>
              </a:ext>
            </a:extLst>
          </p:cNvPr>
          <p:cNvSpPr txBox="1"/>
          <p:nvPr/>
        </p:nvSpPr>
        <p:spPr>
          <a:xfrm>
            <a:off x="7551820" y="5235644"/>
            <a:ext cx="45239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PREMIER UNIVERSITY CHATTOGRAM</a:t>
            </a:r>
          </a:p>
          <a:p>
            <a:r>
              <a:rPr lang="en-US" sz="1200" dirty="0">
                <a:solidFill>
                  <a:schemeClr val="bg1"/>
                </a:solidFill>
              </a:rPr>
              <a:t>DEPARTMENT OF COMPUTER SCIENCE AND ENGINEERING</a:t>
            </a:r>
          </a:p>
          <a:p>
            <a:r>
              <a:rPr lang="en-US" sz="1200" dirty="0">
                <a:solidFill>
                  <a:schemeClr val="bg1"/>
                </a:solidFill>
              </a:rPr>
              <a:t>SESSION:- SPRING-2025</a:t>
            </a:r>
          </a:p>
          <a:p>
            <a:r>
              <a:rPr lang="en-US" sz="1200" dirty="0">
                <a:solidFill>
                  <a:schemeClr val="bg1"/>
                </a:solidFill>
              </a:rPr>
              <a:t>BATCH-42</a:t>
            </a:r>
          </a:p>
          <a:p>
            <a:r>
              <a:rPr lang="en-US" sz="1200" dirty="0">
                <a:solidFill>
                  <a:schemeClr val="bg1"/>
                </a:solidFill>
              </a:rPr>
              <a:t>SECTION:-A </a:t>
            </a:r>
          </a:p>
          <a:p>
            <a:r>
              <a:rPr lang="en-US" sz="1200" dirty="0">
                <a:solidFill>
                  <a:schemeClr val="bg1"/>
                </a:solidFill>
              </a:rPr>
              <a:t>COURSE</a:t>
            </a:r>
            <a:r>
              <a:rPr lang="en-US" sz="1200" b="1" dirty="0">
                <a:solidFill>
                  <a:schemeClr val="bg1"/>
                </a:solidFill>
              </a:rPr>
              <a:t>:-</a:t>
            </a:r>
            <a:r>
              <a:rPr lang="en-US" sz="1200" dirty="0">
                <a:solidFill>
                  <a:schemeClr val="bg1"/>
                </a:solidFill>
              </a:rPr>
              <a:t> Computer Networks Lab [CSE-3568]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049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85930-685F-4690-A413-5133FF162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59CDF8-A753-40F7-A50E-638C95BAF0B9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1596"/>
          <a:stretch/>
        </p:blipFill>
        <p:spPr bwMode="auto">
          <a:xfrm>
            <a:off x="7127849" y="2477606"/>
            <a:ext cx="4482959" cy="36782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112ECE4-0844-4EF3-98DE-6C9FA11F07A8}"/>
              </a:ext>
            </a:extLst>
          </p:cNvPr>
          <p:cNvSpPr txBox="1">
            <a:spLocks/>
          </p:cNvSpPr>
          <p:nvPr/>
        </p:nvSpPr>
        <p:spPr>
          <a:xfrm>
            <a:off x="581192" y="2685822"/>
            <a:ext cx="6024145" cy="29615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Complete Enterprise-level Network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Connectivity: Headquarters, Branches , ISP and INTERNET.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Services: DHCP, DNS, HTTP, Email, IoT, VoIP.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633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93CF-D92F-4775-B978-20406EA63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27A12-8D55-4D2B-881A-D5C190D86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Purpose: Secure enterprise telecommunication system</a:t>
            </a:r>
          </a:p>
          <a:p>
            <a:pPr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Sites: Headquarters, Branch 1, Branch 2, ISP &amp; INTERNET.</a:t>
            </a:r>
          </a:p>
          <a:p>
            <a:pPr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Centralized servers &amp; VLANs</a:t>
            </a:r>
          </a:p>
        </p:txBody>
      </p:sp>
    </p:spTree>
    <p:extLst>
      <p:ext uri="{BB962C8B-B14F-4D97-AF65-F5344CB8AC3E}">
        <p14:creationId xmlns:p14="http://schemas.microsoft.com/office/powerpoint/2010/main" val="3237634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E8135-4C63-476B-A2C5-DB10E1DF2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402DE4-5402-4F23-A0AA-4156CE7231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61277" y="2040799"/>
            <a:ext cx="8869446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Multi-site connectivity (Headquarters, Branch1, Branch2, ISP, INTERNET)</a:t>
            </a:r>
          </a:p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Centralized services needed</a:t>
            </a:r>
          </a:p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VLAN isolation required</a:t>
            </a:r>
          </a:p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Secure IoT &amp; VoIP integration</a:t>
            </a:r>
          </a:p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Guest internet access without internal access</a:t>
            </a:r>
          </a:p>
        </p:txBody>
      </p:sp>
    </p:spTree>
    <p:extLst>
      <p:ext uri="{BB962C8B-B14F-4D97-AF65-F5344CB8AC3E}">
        <p14:creationId xmlns:p14="http://schemas.microsoft.com/office/powerpoint/2010/main" val="551903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4717A-A3E2-418F-B15B-30B261455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739173-3D4C-4E71-A275-BEF3710F0D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99593" y="2039549"/>
            <a:ext cx="4192814" cy="2778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VLANs (Admin, Guest, LAN, WLAN, VoIP)</a:t>
            </a:r>
          </a:p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DHCP, DNS, HTTP, Email servers</a:t>
            </a:r>
          </a:p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OSPF Routing</a:t>
            </a:r>
          </a:p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ACLs for Security</a:t>
            </a:r>
          </a:p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NAT/PAT for Internet</a:t>
            </a:r>
          </a:p>
        </p:txBody>
      </p:sp>
    </p:spTree>
    <p:extLst>
      <p:ext uri="{BB962C8B-B14F-4D97-AF65-F5344CB8AC3E}">
        <p14:creationId xmlns:p14="http://schemas.microsoft.com/office/powerpoint/2010/main" val="3020878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BCD7E-D8F4-45CE-9A38-FA76EBA90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Design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0B795A4-D4F4-4809-9002-AE6D22331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230" y="2831433"/>
            <a:ext cx="11681539" cy="2582778"/>
          </a:xfrm>
        </p:spPr>
      </p:pic>
    </p:spTree>
    <p:extLst>
      <p:ext uri="{BB962C8B-B14F-4D97-AF65-F5344CB8AC3E}">
        <p14:creationId xmlns:p14="http://schemas.microsoft.com/office/powerpoint/2010/main" val="4227736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9C4D-3CCD-439C-A106-EC6D6866A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design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99316D-B95B-4714-9AF3-3E91E08307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823"/>
          <a:stretch/>
        </p:blipFill>
        <p:spPr>
          <a:xfrm>
            <a:off x="3325315" y="2117557"/>
            <a:ext cx="5541370" cy="4524371"/>
          </a:xfrm>
        </p:spPr>
      </p:pic>
    </p:spTree>
    <p:extLst>
      <p:ext uri="{BB962C8B-B14F-4D97-AF65-F5344CB8AC3E}">
        <p14:creationId xmlns:p14="http://schemas.microsoft.com/office/powerpoint/2010/main" val="2712413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6D516-FCF2-41D3-872E-E2841F8A6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E38BA3-20AF-42AB-93C3-C2201A3743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7219571"/>
              </p:ext>
            </p:extLst>
          </p:nvPr>
        </p:nvGraphicFramePr>
        <p:xfrm>
          <a:off x="460876" y="1890987"/>
          <a:ext cx="5787527" cy="48864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4715">
                  <a:extLst>
                    <a:ext uri="{9D8B030D-6E8A-4147-A177-3AD203B41FA5}">
                      <a16:colId xmlns:a16="http://schemas.microsoft.com/office/drawing/2014/main" val="683310813"/>
                    </a:ext>
                  </a:extLst>
                </a:gridCol>
                <a:gridCol w="868654">
                  <a:extLst>
                    <a:ext uri="{9D8B030D-6E8A-4147-A177-3AD203B41FA5}">
                      <a16:colId xmlns:a16="http://schemas.microsoft.com/office/drawing/2014/main" val="922631441"/>
                    </a:ext>
                  </a:extLst>
                </a:gridCol>
                <a:gridCol w="871813">
                  <a:extLst>
                    <a:ext uri="{9D8B030D-6E8A-4147-A177-3AD203B41FA5}">
                      <a16:colId xmlns:a16="http://schemas.microsoft.com/office/drawing/2014/main" val="1379808952"/>
                    </a:ext>
                  </a:extLst>
                </a:gridCol>
                <a:gridCol w="983904">
                  <a:extLst>
                    <a:ext uri="{9D8B030D-6E8A-4147-A177-3AD203B41FA5}">
                      <a16:colId xmlns:a16="http://schemas.microsoft.com/office/drawing/2014/main" val="2162274479"/>
                    </a:ext>
                  </a:extLst>
                </a:gridCol>
                <a:gridCol w="946540">
                  <a:extLst>
                    <a:ext uri="{9D8B030D-6E8A-4147-A177-3AD203B41FA5}">
                      <a16:colId xmlns:a16="http://schemas.microsoft.com/office/drawing/2014/main" val="3258628697"/>
                    </a:ext>
                  </a:extLst>
                </a:gridCol>
                <a:gridCol w="1021267">
                  <a:extLst>
                    <a:ext uri="{9D8B030D-6E8A-4147-A177-3AD203B41FA5}">
                      <a16:colId xmlns:a16="http://schemas.microsoft.com/office/drawing/2014/main" val="2443870618"/>
                    </a:ext>
                  </a:extLst>
                </a:gridCol>
                <a:gridCol w="510634">
                  <a:extLst>
                    <a:ext uri="{9D8B030D-6E8A-4147-A177-3AD203B41FA5}">
                      <a16:colId xmlns:a16="http://schemas.microsoft.com/office/drawing/2014/main" val="1474677745"/>
                    </a:ext>
                  </a:extLst>
                </a:gridCol>
              </a:tblGrid>
              <a:tr h="3152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Subnet #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Network Address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First Usable IP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Last Usable IP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Broadcast Address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Subnet Mask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Prefix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8272672"/>
                  </a:ext>
                </a:extLst>
              </a:tr>
              <a:tr h="1538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30.30.30.0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30.30.30.1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30.30.30.254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30.30.30.255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255.255.255.0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/24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24275"/>
                  </a:ext>
                </a:extLst>
              </a:tr>
              <a:tr h="2371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20.20.20.0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20.20.20.1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20.20.20.2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20.20.20.3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255.255.255.252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0601341"/>
                  </a:ext>
                </a:extLst>
              </a:tr>
              <a:tr h="2371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10.10.10.0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10.10.10.1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10.10.10.14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10.10.10.15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255.255.255.240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0962692"/>
                  </a:ext>
                </a:extLst>
              </a:tr>
              <a:tr h="1538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1.1.1.0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1.1.1.1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1.1.1.254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1.1.1.255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255.255.255.0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/24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0179531"/>
                  </a:ext>
                </a:extLst>
              </a:tr>
              <a:tr h="1538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1.1.2.0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1.1.2.1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1.1.2.254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1.1.2.255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255.255.255.0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/24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1455440"/>
                  </a:ext>
                </a:extLst>
              </a:tr>
              <a:tr h="1538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1.1.3.0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1.1.3.1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1.1.3.254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1.1.3.255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255.255.255.0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/24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7912803"/>
                  </a:ext>
                </a:extLst>
              </a:tr>
              <a:tr h="2371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10.30.30.0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10.30.30.1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10.30.30.2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10.30.30.3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255.255.255.252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3219966"/>
                  </a:ext>
                </a:extLst>
              </a:tr>
              <a:tr h="2371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1.0.0.0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1.0.0.1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1.0.0.2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1.0.0.3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255.255.255.252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2668631"/>
                  </a:ext>
                </a:extLst>
              </a:tr>
              <a:tr h="2371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1.0.1.0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1.0.1.1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1.0.1.2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1.0.1.3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255.255.255.252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823740"/>
                  </a:ext>
                </a:extLst>
              </a:tr>
              <a:tr h="2371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1.0.2.0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1.0.2.1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1.0.2.2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1.0.2.3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255.255.255.252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/30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0818864"/>
                  </a:ext>
                </a:extLst>
              </a:tr>
              <a:tr h="3156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192.168.10.0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192.168.10.1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192.168.10.254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192.168.10.255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255.255.255.0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/24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1822344"/>
                  </a:ext>
                </a:extLst>
              </a:tr>
              <a:tr h="3156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192.168.11.0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192.168.11.1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192.168.11.254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192.168.11.255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255.255.255.0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/24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9714026"/>
                  </a:ext>
                </a:extLst>
              </a:tr>
              <a:tr h="3156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192.168.12.0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192.168.12.1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192.168.12.254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192.168.12.255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255.255.255.0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/24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625021"/>
                  </a:ext>
                </a:extLst>
              </a:tr>
              <a:tr h="3156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192.168.13.0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192.168.13.1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192.168.13.254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192.168.13.255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255.255.255.0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/24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7862026"/>
                  </a:ext>
                </a:extLst>
              </a:tr>
              <a:tr h="3156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192.168.14.0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192.168.14.1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192.168.14.254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192.168.14.255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255.255.255.0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/24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2098166"/>
                  </a:ext>
                </a:extLst>
              </a:tr>
              <a:tr h="3156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111.111.111.0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111.111.111.1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111.111.111.254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111.111.111.255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255.255.255.0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/24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3409659"/>
                  </a:ext>
                </a:extLst>
              </a:tr>
              <a:tr h="3156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100.100.100.0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100.100.100.1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100.100.100.254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111.111.111.255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255.255.255.0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/24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6051648"/>
                  </a:ext>
                </a:extLst>
              </a:tr>
              <a:tr h="1538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10.20.0.0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10.20.0.1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10.20.0.254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10.20.0.255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255.255.255.0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/24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4733179"/>
                  </a:ext>
                </a:extLst>
              </a:tr>
              <a:tr h="1538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172.16.10.0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171.16.10.1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172.16.10.254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172.16.10.255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255.255.255.0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/24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38773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F04F46-B035-437C-BA6F-6D295026C5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646561"/>
              </p:ext>
            </p:extLst>
          </p:nvPr>
        </p:nvGraphicFramePr>
        <p:xfrm>
          <a:off x="7995959" y="1941125"/>
          <a:ext cx="3614849" cy="46421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5213">
                  <a:extLst>
                    <a:ext uri="{9D8B030D-6E8A-4147-A177-3AD203B41FA5}">
                      <a16:colId xmlns:a16="http://schemas.microsoft.com/office/drawing/2014/main" val="919188942"/>
                    </a:ext>
                  </a:extLst>
                </a:gridCol>
                <a:gridCol w="927405">
                  <a:extLst>
                    <a:ext uri="{9D8B030D-6E8A-4147-A177-3AD203B41FA5}">
                      <a16:colId xmlns:a16="http://schemas.microsoft.com/office/drawing/2014/main" val="3311834203"/>
                    </a:ext>
                  </a:extLst>
                </a:gridCol>
                <a:gridCol w="721894">
                  <a:extLst>
                    <a:ext uri="{9D8B030D-6E8A-4147-A177-3AD203B41FA5}">
                      <a16:colId xmlns:a16="http://schemas.microsoft.com/office/drawing/2014/main" val="4061417497"/>
                    </a:ext>
                  </a:extLst>
                </a:gridCol>
                <a:gridCol w="890337">
                  <a:extLst>
                    <a:ext uri="{9D8B030D-6E8A-4147-A177-3AD203B41FA5}">
                      <a16:colId xmlns:a16="http://schemas.microsoft.com/office/drawing/2014/main" val="1769705977"/>
                    </a:ext>
                  </a:extLst>
                </a:gridCol>
              </a:tblGrid>
              <a:tr h="26222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Device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Interface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IP Address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Subnet Mask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251006620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INERNET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Gig0/0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30.30.30.1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2540787967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INTERNET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Se0/3/0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20.20.20.1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255.255.255.252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150916655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ISP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Se0/3/0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20.20.20.2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255.255.255.252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989295423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ISP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Se0/3/1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1.1.1.1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3687237134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ISP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Se0/2/0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1.1.2.1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886570481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ISP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Se0/2/1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1.1.3.1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1091169033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BRANCH 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Se0/2/0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1.1.2.2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255.255.255.252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901375363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BRANCH 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Se0/3/0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1.0.0.2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255.255.255.252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1809062059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BRANCH 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Se0/2/1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1.0.2.1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255.255.255.252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1684883993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BRANCH 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Gig0/0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192.168.11.1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1828440560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BRANCH 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Gig0/1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192.168.12.1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3320043250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BRANCH 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Se0/3/0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1.1.3.2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255.255.255.252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3581456082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BRANCH 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Se0/2/0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1.0.1.2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255.255.255.252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2646539328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BRANCH 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Se0/2/1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1.0.2.2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255.255.255.252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1656527927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BRANCH 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Gig0/0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192.168.13.1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2061135000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BRANCH 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Gig0/1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192.168.14.1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2660273981"/>
                  </a:ext>
                </a:extLst>
              </a:tr>
              <a:tr h="26950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HEADQUARTERS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Se0/3/1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1.1.1.2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255.255.255.252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3014176259"/>
                  </a:ext>
                </a:extLst>
              </a:tr>
              <a:tr h="26950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HEADQUARTERS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Se0/3/0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1.0.0.1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255.255.255.252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4124444000"/>
                  </a:ext>
                </a:extLst>
              </a:tr>
              <a:tr h="26950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HEADQUARTERS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Se0/2/0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1.0.1.1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255.255.255.252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2817654407"/>
                  </a:ext>
                </a:extLst>
              </a:tr>
              <a:tr h="26950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HEADQUARTERS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Gig0/0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10.30.30.1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255.255.255.252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591274450"/>
                  </a:ext>
                </a:extLst>
              </a:tr>
              <a:tr h="26950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HEADQUARTERS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Gig0/1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10.10.10.1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255.255.255.240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3671542540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CORE SWITCH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Gig1/0/1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10.30.30.2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255.255.255.252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358026564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CORE SWITCH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VLAN 99(ADMIN)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100.100.100.1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2221074150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CORE SWITCH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VLAN 11(Guest)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111.111.111.1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108577233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CORE SWITCH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VLAN 50(LAN)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192.168.10.1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4026902756"/>
                  </a:ext>
                </a:extLst>
              </a:tr>
              <a:tr h="1315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CORE SWITCH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VLAN 60(WLAN)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10.20.0.1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255.255.255.0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356975486"/>
                  </a:ext>
                </a:extLst>
              </a:tr>
              <a:tr h="26977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VOICE GATEWAY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Fa0/0.101 (VLAN 101-VoIP)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172.16.10.1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255.255.255.0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98" marR="53398" marT="0" marB="0"/>
                </a:tc>
                <a:extLst>
                  <a:ext uri="{0D108BD9-81ED-4DB2-BD59-A6C34878D82A}">
                    <a16:rowId xmlns:a16="http://schemas.microsoft.com/office/drawing/2014/main" val="306925836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B8288D1-467B-4697-93C6-22F1E5C2D7F8}"/>
              </a:ext>
            </a:extLst>
          </p:cNvPr>
          <p:cNvSpPr txBox="1">
            <a:spLocks/>
          </p:cNvSpPr>
          <p:nvPr/>
        </p:nvSpPr>
        <p:spPr>
          <a:xfrm>
            <a:off x="6520088" y="3755304"/>
            <a:ext cx="1596187" cy="1013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dirty="0">
                <a:solidFill>
                  <a:srgbClr val="4D1434"/>
                </a:solidFill>
              </a:rPr>
              <a:t>Subnetting &amp; 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>
                <a:solidFill>
                  <a:srgbClr val="4D1434"/>
                </a:solidFill>
              </a:rPr>
              <a:t>IP allocation</a:t>
            </a:r>
          </a:p>
        </p:txBody>
      </p:sp>
    </p:spTree>
    <p:extLst>
      <p:ext uri="{BB962C8B-B14F-4D97-AF65-F5344CB8AC3E}">
        <p14:creationId xmlns:p14="http://schemas.microsoft.com/office/powerpoint/2010/main" val="3992387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AC199-CA99-4C50-BFA3-60BABED62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40138A-4035-44EF-9E56-5E744266D5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43849" y="3017491"/>
            <a:ext cx="2126544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highlight>
                  <a:srgbClr val="00FF00"/>
                </a:highlight>
              </a:rPr>
              <a:t>VLANS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VLAN 99: Admin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VLAN 11: Guest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VLAN 50: LAN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VLAN 60: WLAN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VLAN 101: VoIP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72F782-BDF8-45A5-88E2-CF85521D0075}"/>
              </a:ext>
            </a:extLst>
          </p:cNvPr>
          <p:cNvSpPr txBox="1"/>
          <p:nvPr/>
        </p:nvSpPr>
        <p:spPr>
          <a:xfrm>
            <a:off x="7057481" y="3732129"/>
            <a:ext cx="3527716" cy="120032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ACLs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/>
              <a:t>IoT: Only Admin, LAN, WLAN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/>
              <a:t>DATA STORAGE: Only Admin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/>
              <a:t>Guest: Internet only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6E8180-0E7B-4D74-9F04-E2C09C6B356A}"/>
              </a:ext>
            </a:extLst>
          </p:cNvPr>
          <p:cNvSpPr txBox="1"/>
          <p:nvPr/>
        </p:nvSpPr>
        <p:spPr>
          <a:xfrm>
            <a:off x="2617860" y="2754025"/>
            <a:ext cx="2126544" cy="92333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CCCCFF"/>
                </a:highlight>
              </a:rPr>
              <a:t>ROUTING</a:t>
            </a:r>
          </a:p>
          <a:p>
            <a:pPr algn="ctr"/>
            <a:r>
              <a:rPr lang="en-US" dirty="0"/>
              <a:t>OSPF Dynamic Routing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7EF5DD-782D-49EA-AFED-560E5B62B330}"/>
              </a:ext>
            </a:extLst>
          </p:cNvPr>
          <p:cNvSpPr txBox="1"/>
          <p:nvPr/>
        </p:nvSpPr>
        <p:spPr>
          <a:xfrm>
            <a:off x="7069838" y="2711113"/>
            <a:ext cx="2126544" cy="92333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CCCCFF"/>
                </a:highlight>
              </a:rPr>
              <a:t>HTTP </a:t>
            </a:r>
          </a:p>
          <a:p>
            <a:pPr algn="ctr"/>
            <a:r>
              <a:rPr lang="en-US" dirty="0"/>
              <a:t> PUC TELCO website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4BDF41-B8EC-4BFD-A6FA-E3AD6D0FA9E2}"/>
              </a:ext>
            </a:extLst>
          </p:cNvPr>
          <p:cNvSpPr txBox="1"/>
          <p:nvPr/>
        </p:nvSpPr>
        <p:spPr>
          <a:xfrm>
            <a:off x="4843849" y="2108898"/>
            <a:ext cx="2126544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00FFFF"/>
                </a:highlight>
              </a:rPr>
              <a:t>DHCP </a:t>
            </a:r>
          </a:p>
          <a:p>
            <a:pPr algn="ctr"/>
            <a:r>
              <a:rPr lang="en-US" dirty="0"/>
              <a:t>automatic IPs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74D6A6-B104-41CF-932A-B9E8A382E943}"/>
              </a:ext>
            </a:extLst>
          </p:cNvPr>
          <p:cNvSpPr txBox="1"/>
          <p:nvPr/>
        </p:nvSpPr>
        <p:spPr>
          <a:xfrm>
            <a:off x="3484015" y="5034079"/>
            <a:ext cx="2126544" cy="147732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00FFFF"/>
                </a:highlight>
              </a:rPr>
              <a:t>NAT/PAT </a:t>
            </a:r>
          </a:p>
          <a:p>
            <a:pPr algn="ctr"/>
            <a:r>
              <a:rPr lang="da-DK" dirty="0"/>
              <a:t>PAT at Headquartes, Branch 1 &amp; 2 routes while gointg to  ISP router.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F77C2B-7BAC-4A25-9516-7076265997DA}"/>
              </a:ext>
            </a:extLst>
          </p:cNvPr>
          <p:cNvSpPr txBox="1"/>
          <p:nvPr/>
        </p:nvSpPr>
        <p:spPr>
          <a:xfrm>
            <a:off x="6096000" y="5034079"/>
            <a:ext cx="2126544" cy="147732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00FFFF"/>
                </a:highlight>
              </a:rPr>
              <a:t>VoIP</a:t>
            </a:r>
          </a:p>
          <a:p>
            <a:pPr algn="ctr"/>
            <a:r>
              <a:rPr lang="en-US" dirty="0"/>
              <a:t>Numbers 111 to 120</a:t>
            </a:r>
          </a:p>
          <a:p>
            <a:pPr algn="ctr"/>
            <a:r>
              <a:rPr lang="en-US" dirty="0"/>
              <a:t>For Headquarters internal Calling.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048FB7-CB48-44D2-94FB-5B882D7F07B0}"/>
              </a:ext>
            </a:extLst>
          </p:cNvPr>
          <p:cNvSpPr txBox="1"/>
          <p:nvPr/>
        </p:nvSpPr>
        <p:spPr>
          <a:xfrm>
            <a:off x="1216689" y="3865224"/>
            <a:ext cx="3527715" cy="92333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IoT 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dirty="0"/>
              <a:t> Wireless IoT via LAP</a:t>
            </a:r>
          </a:p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dirty="0"/>
              <a:t>Remote control via IoT server</a:t>
            </a:r>
          </a:p>
        </p:txBody>
      </p:sp>
    </p:spTree>
    <p:extLst>
      <p:ext uri="{BB962C8B-B14F-4D97-AF65-F5344CB8AC3E}">
        <p14:creationId xmlns:p14="http://schemas.microsoft.com/office/powerpoint/2010/main" val="2009322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1F066-9C27-431D-AAE9-E0F4CE40A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7C5A5-55DC-4914-9AF3-E9110360E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23" y="2131070"/>
            <a:ext cx="11207153" cy="4232660"/>
          </a:xfrm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en-US" dirty="0"/>
              <a:t>Full Connectivity</a:t>
            </a:r>
          </a:p>
          <a:p>
            <a:pPr algn="ctr">
              <a:lnSpc>
                <a:spcPct val="200000"/>
              </a:lnSpc>
            </a:pPr>
            <a:r>
              <a:rPr lang="en-US" dirty="0"/>
              <a:t>Secured Access Control</a:t>
            </a:r>
          </a:p>
          <a:p>
            <a:pPr algn="ctr">
              <a:lnSpc>
                <a:spcPct val="200000"/>
              </a:lnSpc>
            </a:pPr>
            <a:r>
              <a:rPr lang="en-US" dirty="0"/>
              <a:t>Services Integration</a:t>
            </a:r>
          </a:p>
          <a:p>
            <a:pPr algn="ctr">
              <a:lnSpc>
                <a:spcPct val="200000"/>
              </a:lnSpc>
            </a:pPr>
            <a:r>
              <a:rPr lang="en-US" dirty="0"/>
              <a:t>IoT &amp; VoIP Integrated</a:t>
            </a:r>
          </a:p>
          <a:p>
            <a:pPr algn="ctr">
              <a:lnSpc>
                <a:spcPct val="200000"/>
              </a:lnSpc>
            </a:pPr>
            <a:r>
              <a:rPr lang="en-US" dirty="0"/>
              <a:t>NAT: PAT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US" dirty="0"/>
              <a:t>✅</a:t>
            </a:r>
          </a:p>
        </p:txBody>
      </p:sp>
    </p:spTree>
    <p:extLst>
      <p:ext uri="{BB962C8B-B14F-4D97-AF65-F5344CB8AC3E}">
        <p14:creationId xmlns:p14="http://schemas.microsoft.com/office/powerpoint/2010/main" val="446706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2D0A4-9C31-4BCA-859E-93FB799F0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7F780-3BA1-4AA6-B683-516EF361E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900" dirty="0"/>
              <a:t> Issues faced: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sz="1900" dirty="0"/>
              <a:t>IP conflicts during subnetting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sz="1900" dirty="0"/>
              <a:t>ACL misconfiguration blocking services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sz="1900" dirty="0"/>
              <a:t>DNS resolution delays in Packet Tracer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dirty="0"/>
              <a:t> Alternatives: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1900" dirty="0"/>
              <a:t>Routing: OSPF (used), RIP (simpler but less scalable)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1900" dirty="0"/>
              <a:t>NAT: PAT (used), Static NAT (precise but wastes IPs)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1900" dirty="0"/>
              <a:t>Simulation: Packet Tracer (used), real devices (more realistic)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dirty="0"/>
              <a:t>Advantages: Scalable, secure with ACLs, cost-effective with Packet Tracer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dirty="0"/>
              <a:t>Disadvantages: Limited simulator features, no real QoS or latency testing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255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B6DEC-7D99-46D0-8AF3-A900E7D6E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14408-BDAC-4F17-9C5F-0ABED9A49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lnSpc>
                <a:spcPct val="200000"/>
              </a:lnSpc>
            </a:pPr>
            <a:r>
              <a:rPr lang="en-US" dirty="0"/>
              <a:t>Implement IPv6</a:t>
            </a:r>
          </a:p>
          <a:p>
            <a:pPr algn="ctr">
              <a:lnSpc>
                <a:spcPct val="200000"/>
              </a:lnSpc>
            </a:pPr>
            <a:r>
              <a:rPr lang="en-US" dirty="0"/>
              <a:t>Add Firewalls</a:t>
            </a:r>
          </a:p>
          <a:p>
            <a:pPr algn="ctr">
              <a:lnSpc>
                <a:spcPct val="200000"/>
              </a:lnSpc>
            </a:pPr>
            <a:r>
              <a:rPr lang="en-US" dirty="0"/>
              <a:t>Expand IoT surveillance</a:t>
            </a:r>
          </a:p>
          <a:p>
            <a:endParaRPr lang="en-US" dirty="0"/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DBCA1A64-B758-4BD3-B2CC-F57769F73A2F}"/>
              </a:ext>
            </a:extLst>
          </p:cNvPr>
          <p:cNvSpPr/>
          <p:nvPr/>
        </p:nvSpPr>
        <p:spPr>
          <a:xfrm>
            <a:off x="5824150" y="5172120"/>
            <a:ext cx="543698" cy="55768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44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7D229-3C6D-43E6-A301-3F932589B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6B56C3-C02D-4A6F-B332-B176B548FB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75814" y="2040799"/>
            <a:ext cx="6040372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 enterprise network successfully designed</a:t>
            </a:r>
          </a:p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services: DHCP, DNS, HTTP, Email, IoT, VoIP</a:t>
            </a:r>
          </a:p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with VLANs, ACLs, NAT/PAT</a:t>
            </a:r>
          </a:p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and future-proof</a:t>
            </a:r>
          </a:p>
          <a:p>
            <a:pPr marL="0" marR="0" lvl="0" indent="0" algn="ctr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 all project requirements</a:t>
            </a:r>
          </a:p>
        </p:txBody>
      </p:sp>
    </p:spTree>
    <p:extLst>
      <p:ext uri="{BB962C8B-B14F-4D97-AF65-F5344CB8AC3E}">
        <p14:creationId xmlns:p14="http://schemas.microsoft.com/office/powerpoint/2010/main" val="327258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70009-50EF-4A4A-9E8B-6DFD25A83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3025227"/>
            <a:ext cx="11029616" cy="1013800"/>
          </a:xfrm>
          <a:solidFill>
            <a:schemeClr val="accent2">
              <a:lumMod val="5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5112963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{842E2F3F-673E-4222-B262-427834DD48BC}TF319cfb39-eeba-4af5-a5a2-03d53d0375160e3309b2-0adf682d390f</Template>
  <TotalTime>124</TotalTime>
  <Words>728</Words>
  <Application>Microsoft Office PowerPoint</Application>
  <PresentationFormat>Widescreen</PresentationFormat>
  <Paragraphs>347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Courier New</vt:lpstr>
      <vt:lpstr>Gill Sans MT</vt:lpstr>
      <vt:lpstr>Wingdings</vt:lpstr>
      <vt:lpstr>Wingdings 2</vt:lpstr>
      <vt:lpstr>Dividend</vt:lpstr>
      <vt:lpstr>TELECOMMUNICATION SYSTEM NETWORK</vt:lpstr>
      <vt:lpstr>Abstract</vt:lpstr>
      <vt:lpstr>Introduction</vt:lpstr>
      <vt:lpstr>Problem Statement</vt:lpstr>
      <vt:lpstr>Requirements</vt:lpstr>
      <vt:lpstr>LOGICAL Design</vt:lpstr>
      <vt:lpstr>Physical design</vt:lpstr>
      <vt:lpstr>Implementation  </vt:lpstr>
      <vt:lpstr>implementation</vt:lpstr>
      <vt:lpstr>RESULTS</vt:lpstr>
      <vt:lpstr>Discussions</vt:lpstr>
      <vt:lpstr>Recommendations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TELECOMMUNICATION SYSTEM NETWORK</dc:title>
  <dc:creator>Arafat Siraj</dc:creator>
  <cp:lastModifiedBy>Arafat Siraj</cp:lastModifiedBy>
  <cp:revision>2</cp:revision>
  <dcterms:created xsi:type="dcterms:W3CDTF">2025-10-19T13:23:12Z</dcterms:created>
  <dcterms:modified xsi:type="dcterms:W3CDTF">2025-10-20T07:34:39Z</dcterms:modified>
</cp:coreProperties>
</file>